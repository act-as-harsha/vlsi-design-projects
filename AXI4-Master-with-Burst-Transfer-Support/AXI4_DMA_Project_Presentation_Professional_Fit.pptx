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300" b="1">
                <a:solidFill>
                  <a:srgbClr val="31B7C9"/>
                </a:solidFill>
                <a:latin typeface="Aptos"/>
              </a:defRPr>
            </a:pPr>
            <a:r>
              <a:t>B.TECH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1325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AXI4 Master with Burst Transfer</a:t>
            </a:r>
          </a:p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Support for DMA-to-Memory Data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54680"/>
            <a:ext cx="987552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900" b="0">
                <a:solidFill>
                  <a:srgbClr val="D2DEEC"/>
                </a:solidFill>
                <a:latin typeface="Aptos"/>
              </a:defRPr>
            </a:pPr>
            <a:r>
              <a:t>Electronics and Communication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9601200" cy="11430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Presented by: Yelleti Harshavardhan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Roll No.: 2400040454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KL University  |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126480"/>
            <a:ext cx="9875520" cy="2743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200" b="1">
                <a:solidFill>
                  <a:srgbClr val="C3D3E4"/>
                </a:solidFill>
                <a:latin typeface="Aptos"/>
              </a:defRPr>
            </a:pPr>
            <a:r>
              <a:t>Project Guide: Dr. M. Lakshmana Kumar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98480" cy="11430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100" b="0">
                <a:solidFill>
                  <a:srgbClr val="232D3A"/>
                </a:solidFill>
                <a:latin typeface="Aptos"/>
              </a:defRPr>
            </a:pPr>
            <a:r>
              <a:rPr sz="1800"/>
              <a:t>This project implements and verifies a modular AXI4 Master for DMA-based memory-to-memory data movement. Burst calculation, independent read/write engines, FIFO buffering, and transaction tracking are combined to transfer data with reduced address-phase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3383280" cy="150876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73152" cy="1508760"/>
          </a:xfrm>
          <a:prstGeom prst="rect">
            <a:avLst/>
          </a:prstGeom>
          <a:solidFill>
            <a:srgbClr val="20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990088"/>
            <a:ext cx="31089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700" b="1">
                <a:solidFill>
                  <a:srgbClr val="11233F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410712"/>
            <a:ext cx="3108960" cy="886967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32-bit address bus</a:t>
            </a:r>
          </a:p>
          <a:p>
            <a:pPr>
              <a:spcAft>
                <a:spcPts val="6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64-bit data bus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880360"/>
            <a:ext cx="3383280" cy="150876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880360"/>
            <a:ext cx="73152" cy="1508760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2990088"/>
            <a:ext cx="31089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700" b="1">
                <a:solidFill>
                  <a:srgbClr val="11233F"/>
                </a:solidFill>
                <a:latin typeface="Aptos"/>
              </a:defRPr>
            </a:pPr>
            <a:r>
              <a:t>Burst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410712"/>
            <a:ext cx="3108960" cy="886967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Up to 16 beats per burst</a:t>
            </a:r>
          </a:p>
          <a:p>
            <a:pPr>
              <a:spcAft>
                <a:spcPts val="6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8 bytes per beat = 128 bytes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880360"/>
            <a:ext cx="3383280" cy="150876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01000" y="2880360"/>
            <a:ext cx="73152" cy="1508760"/>
          </a:xfrm>
          <a:prstGeom prst="rect">
            <a:avLst/>
          </a:prstGeom>
          <a:solidFill>
            <a:srgbClr val="2C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65592" y="2990088"/>
            <a:ext cx="31089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700" b="1">
                <a:solidFill>
                  <a:srgbClr val="11233F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410712"/>
            <a:ext cx="3108960" cy="886967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256-byte transfer</a:t>
            </a:r>
          </a:p>
          <a:p>
            <a:pPr>
              <a:spcAft>
                <a:spcPts val="6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4 KB boundary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424160" cy="7315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700" b="0">
                <a:solidFill>
                  <a:srgbClr val="5F6C7A"/>
                </a:solidFill>
                <a:latin typeface="Aptos"/>
              </a:defRPr>
            </a:pPr>
            <a:r>
              <a:t>Simulation reported “ALL TESTS PASSED.” Synthesis and implementation reports were generated in Vivado 2025.2.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21208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E3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49377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800" b="1">
                <a:solidFill>
                  <a:srgbClr val="11233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4937760" cy="1207007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0">
                <a:solidFill>
                  <a:srgbClr val="232D3A"/>
                </a:solidFill>
                <a:latin typeface="Aptos"/>
              </a:defRPr>
            </a:pPr>
            <a:r>
              <a:t>Single-beat transfers require repeated address transactions. A DMA master must coordinate burst length, handshakes, buffering, responses, and 4 KB boundary restrictions.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1208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73152" cy="1828800"/>
          </a:xfrm>
          <a:prstGeom prst="rect">
            <a:avLst/>
          </a:prstGeom>
          <a:solidFill>
            <a:srgbClr val="20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27048"/>
            <a:ext cx="49377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800" b="1">
                <a:solidFill>
                  <a:srgbClr val="11233F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4937760" cy="1207007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0">
                <a:solidFill>
                  <a:srgbClr val="232D3A"/>
                </a:solidFill>
                <a:latin typeface="Aptos"/>
              </a:defRPr>
            </a:pPr>
            <a:r>
              <a:t>Design a modular AXI4 master that moves data between memory addresses, generates valid bursts, handles read/write sequencing, and verifies data integrity.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10515600" cy="36576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900" b="1">
                <a:solidFill>
                  <a:srgbClr val="11233F"/>
                </a:solidFill>
                <a:latin typeface="Aptos"/>
              </a:defRPr>
            </a:pPr>
            <a:r>
              <a:t>Key design 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51960"/>
            <a:ext cx="10515600" cy="1600200"/>
          </a:xfrm>
          <a:prstGeom prst="rect">
            <a:avLst/>
          </a:prstGeom>
          <a:noFill/>
        </p:spPr>
        <p:txBody>
          <a:bodyPr wrap="square" lIns="109728" tIns="73152"/>
          <a:lstStyle/>
          <a:p>
            <a:pPr>
              <a:spcAft>
                <a:spcPts val="5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Support AXI4 read and write burst transactions.</a:t>
            </a:r>
          </a:p>
          <a:p>
            <a:pPr>
              <a:spcAft>
                <a:spcPts val="5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Limit bursts by remaining bytes, FIFO capacity, maximum length, and 4 KB boundary.</a:t>
            </a:r>
          </a:p>
          <a:p>
            <a:pPr>
              <a:spcAft>
                <a:spcPts val="5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Verify data movement and completion through a self-checking testbench.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AXI4 Protocol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47472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20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435607"/>
            <a:ext cx="320040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1">
                <a:solidFill>
                  <a:srgbClr val="11233F"/>
                </a:solidFill>
                <a:latin typeface="Aptos"/>
              </a:defRPr>
            </a:pPr>
            <a:r>
              <a:t>AW — Write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1"/>
            <a:ext cx="3200400" cy="6126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300" b="0">
                <a:solidFill>
                  <a:srgbClr val="232D3A"/>
                </a:solidFill>
                <a:latin typeface="Aptos"/>
              </a:defRPr>
            </a:pPr>
            <a:r>
              <a:t>Write destination address and burst attributes.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25880"/>
            <a:ext cx="347472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73152" cy="1234440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435607"/>
            <a:ext cx="320040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1">
                <a:solidFill>
                  <a:srgbClr val="11233F"/>
                </a:solidFill>
                <a:latin typeface="Aptos"/>
              </a:defRPr>
            </a:pPr>
            <a:r>
              <a:t>W — Write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856231"/>
            <a:ext cx="3200400" cy="6126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300" b="0">
                <a:solidFill>
                  <a:srgbClr val="232D3A"/>
                </a:solidFill>
                <a:latin typeface="Aptos"/>
              </a:defRPr>
            </a:pPr>
            <a:r>
              <a:t>Write data beats; WLAST marks the final beat.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47472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73152" cy="1234440"/>
          </a:xfrm>
          <a:prstGeom prst="rect">
            <a:avLst/>
          </a:prstGeom>
          <a:solidFill>
            <a:srgbClr val="2C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435607"/>
            <a:ext cx="320040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1">
                <a:solidFill>
                  <a:srgbClr val="11233F"/>
                </a:solidFill>
                <a:latin typeface="Aptos"/>
              </a:defRPr>
            </a:pPr>
            <a:r>
              <a:t>B — Write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856231"/>
            <a:ext cx="3200400" cy="6126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300" b="0">
                <a:solidFill>
                  <a:srgbClr val="232D3A"/>
                </a:solidFill>
                <a:latin typeface="Aptos"/>
              </a:defRPr>
            </a:pPr>
            <a:r>
              <a:t>Slave returns write completion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2971800"/>
            <a:ext cx="347472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14600" y="2971800"/>
            <a:ext cx="73152" cy="1234440"/>
          </a:xfrm>
          <a:prstGeom prst="rect">
            <a:avLst/>
          </a:prstGeom>
          <a:solidFill>
            <a:srgbClr val="E3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79192" y="3081528"/>
            <a:ext cx="320040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1">
                <a:solidFill>
                  <a:srgbClr val="11233F"/>
                </a:solidFill>
                <a:latin typeface="Aptos"/>
              </a:defRPr>
            </a:pPr>
            <a:r>
              <a:t>AR — Read Address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9192" y="3502152"/>
            <a:ext cx="3200400" cy="6126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300" b="0">
                <a:solidFill>
                  <a:srgbClr val="232D3A"/>
                </a:solidFill>
                <a:latin typeface="Aptos"/>
              </a:defRPr>
            </a:pPr>
            <a:r>
              <a:t>Read source address and burst attributes.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971800"/>
            <a:ext cx="347472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9632" y="2971800"/>
            <a:ext cx="73152" cy="1234440"/>
          </a:xfrm>
          <a:prstGeom prst="rect">
            <a:avLst/>
          </a:prstGeom>
          <a:solidFill>
            <a:srgbClr val="20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64224" y="3081528"/>
            <a:ext cx="320040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1">
                <a:solidFill>
                  <a:srgbClr val="11233F"/>
                </a:solidFill>
                <a:latin typeface="Aptos"/>
              </a:defRPr>
            </a:pPr>
            <a:r>
              <a:t>R — Read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502152"/>
            <a:ext cx="3200400" cy="6126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300" b="0">
                <a:solidFill>
                  <a:srgbClr val="232D3A"/>
                </a:solidFill>
                <a:latin typeface="Aptos"/>
              </a:defRPr>
            </a:pPr>
            <a:r>
              <a:t>Slave returns data; RLAST marks final beat.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0424160" cy="6858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2000" b="1">
                <a:solidFill>
                  <a:srgbClr val="11233F"/>
                </a:solidFill>
                <a:latin typeface="Aptos"/>
              </a:defRPr>
            </a:pPr>
            <a:r>
              <a:t>A transfer occurs when VALID and READY are both high in the same clock 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DESIGN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1828800" cy="914400"/>
          </a:xfrm>
          <a:prstGeom prst="roundRect">
            <a:avLst/>
          </a:prstGeom>
          <a:solidFill>
            <a:srgbClr val="EFF5FB"/>
          </a:solidFill>
          <a:ln>
            <a:solidFill>
              <a:srgbClr val="206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956816"/>
            <a:ext cx="1719072" cy="29260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233F"/>
                </a:solidFill>
                <a:latin typeface="Aptos"/>
              </a:defRPr>
            </a:pPr>
            <a:r>
              <a:t>DMA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304288"/>
            <a:ext cx="1719072" cy="32004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Transfer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1828800" cy="914400"/>
          </a:xfrm>
          <a:prstGeom prst="roundRect">
            <a:avLst/>
          </a:prstGeom>
          <a:solidFill>
            <a:srgbClr val="EFF5FB"/>
          </a:solidFill>
          <a:ln>
            <a:solidFill>
              <a:srgbClr val="206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3784" y="1956816"/>
            <a:ext cx="1719072" cy="29260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233F"/>
                </a:solidFill>
                <a:latin typeface="Aptos"/>
              </a:defRPr>
            </a:pPr>
            <a:r>
              <a:t>Burst Calculator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3784" y="2304288"/>
            <a:ext cx="1719072" cy="32004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Length + 4 KB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828800"/>
            <a:ext cx="1828800" cy="914400"/>
          </a:xfrm>
          <a:prstGeom prst="roundRect">
            <a:avLst/>
          </a:prstGeom>
          <a:solidFill>
            <a:srgbClr val="EFF5FB"/>
          </a:solidFill>
          <a:ln>
            <a:solidFill>
              <a:srgbClr val="206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38344" y="1956816"/>
            <a:ext cx="1719072" cy="29260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233F"/>
                </a:solidFill>
                <a:latin typeface="Aptos"/>
              </a:defRPr>
            </a:pPr>
            <a:r>
              <a:t>AXI4 Read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304288"/>
            <a:ext cx="1719072" cy="32004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AR / R channels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28800"/>
            <a:ext cx="1463040" cy="914400"/>
          </a:xfrm>
          <a:prstGeom prst="roundRect">
            <a:avLst/>
          </a:prstGeom>
          <a:solidFill>
            <a:srgbClr val="EFF5FB"/>
          </a:solidFill>
          <a:ln>
            <a:solidFill>
              <a:srgbClr val="206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2903" y="1956816"/>
            <a:ext cx="1353312" cy="29260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233F"/>
                </a:solidFill>
                <a:latin typeface="Aptos"/>
              </a:defRPr>
            </a:pPr>
            <a:r>
              <a:t>FIFO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3" y="2304288"/>
            <a:ext cx="1353312" cy="32004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Data buffer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828800"/>
            <a:ext cx="1828800" cy="914400"/>
          </a:xfrm>
          <a:prstGeom prst="roundRect">
            <a:avLst/>
          </a:prstGeom>
          <a:solidFill>
            <a:srgbClr val="EFF5FB"/>
          </a:solidFill>
          <a:ln>
            <a:solidFill>
              <a:srgbClr val="206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61704" y="1956816"/>
            <a:ext cx="1719072" cy="29260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233F"/>
                </a:solidFill>
                <a:latin typeface="Aptos"/>
              </a:defRPr>
            </a:pPr>
            <a:r>
              <a:t>AXI4 Write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2304288"/>
            <a:ext cx="1719072" cy="32004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AW / W / B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423160" y="2139696"/>
            <a:ext cx="365759" cy="228600"/>
          </a:xfrm>
          <a:prstGeom prst="rightArrow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4617720" y="2139696"/>
            <a:ext cx="365760" cy="228600"/>
          </a:xfrm>
          <a:prstGeom prst="rightArrow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6812280" y="2139696"/>
            <a:ext cx="365759" cy="228600"/>
          </a:xfrm>
          <a:prstGeom prst="rightArrow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8641080" y="2139696"/>
            <a:ext cx="365760" cy="228600"/>
          </a:xfrm>
          <a:prstGeom prst="rightArrow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834640" y="3657600"/>
            <a:ext cx="274320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34640" y="3657600"/>
            <a:ext cx="73152" cy="1051560"/>
          </a:xfrm>
          <a:prstGeom prst="rect">
            <a:avLst/>
          </a:prstGeom>
          <a:solidFill>
            <a:srgbClr val="2C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99232" y="3767328"/>
            <a:ext cx="246888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500" b="1">
                <a:solidFill>
                  <a:srgbClr val="11233F"/>
                </a:solidFill>
                <a:latin typeface="Aptos"/>
              </a:defRPr>
            </a:pPr>
            <a:r>
              <a:t>Outstanding Tracker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9232" y="4187952"/>
            <a:ext cx="2468880" cy="429767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Tracks issued and completed work.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3657600"/>
            <a:ext cx="274320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89320" y="3657600"/>
            <a:ext cx="73152" cy="1051560"/>
          </a:xfrm>
          <a:prstGeom prst="rect">
            <a:avLst/>
          </a:prstGeom>
          <a:solidFill>
            <a:srgbClr val="E3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53912" y="3767328"/>
            <a:ext cx="246888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500" b="1">
                <a:solidFill>
                  <a:srgbClr val="11233F"/>
                </a:solidFill>
                <a:latin typeface="Aptos"/>
              </a:defRPr>
            </a:pPr>
            <a:r>
              <a:t>AXI4 RAM Slave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4187952"/>
            <a:ext cx="2468880" cy="429767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Internal memory model for verification.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600" b="1">
                <a:solidFill>
                  <a:srgbClr val="232D3A"/>
                </a:solidFill>
                <a:latin typeface="Aptos"/>
              </a:defRPr>
            </a:pPr>
            <a:r>
              <a:t>Data path: Source memory → Read engine → FIFO → Write engine → Destination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Design Parameters and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RTL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325880"/>
          <a:ext cx="10241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</a:t>
                      </a:r>
                    </a:p>
                  </a:txBody>
                  <a:tcPr marL="128016" marR="128016" marT="54864" marB="54864">
                    <a:solidFill>
                      <a:srgbClr val="11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Configured value</a:t>
                      </a:r>
                    </a:p>
                  </a:txBody>
                  <a:tcPr marL="128016" marR="128016" marT="54864" marB="54864">
                    <a:solidFill>
                      <a:srgbClr val="11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Address width</a:t>
                      </a:r>
                    </a:p>
                  </a:txBody>
                  <a:tcPr marL="128016" marR="128016" marT="54864" marB="54864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32 bits</a:t>
                      </a:r>
                    </a:p>
                  </a:txBody>
                  <a:tcPr marL="128016" marR="128016" marT="54864" marB="54864"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Data width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64 bits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ID width</a:t>
                      </a:r>
                    </a:p>
                  </a:txBody>
                  <a:tcPr marL="128016" marR="128016" marT="54864" marB="54864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4 bits</a:t>
                      </a:r>
                    </a:p>
                  </a:txBody>
                  <a:tcPr marL="128016" marR="128016" marT="54864" marB="54864"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FIFO depth parameter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512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Maximum burst length</a:t>
                      </a:r>
                    </a:p>
                  </a:txBody>
                  <a:tcPr marL="128016" marR="128016" marT="54864" marB="54864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16 beats</a:t>
                      </a:r>
                    </a:p>
                  </a:txBody>
                  <a:tcPr marL="128016" marR="128016" marT="54864" marB="54864"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Bytes per beat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8 bytes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Maximum data per burst</a:t>
                      </a:r>
                    </a:p>
                  </a:txBody>
                  <a:tcPr marL="128016" marR="128016" marT="54864" marB="54864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128 bytes</a:t>
                      </a:r>
                    </a:p>
                  </a:txBody>
                  <a:tcPr marL="128016" marR="128016" marT="54864" marB="54864"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Tool / RTL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Vivado 2025.2 / SystemVerilog RTL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Burst Calculation and 4 KB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KEY DESIGN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07040" cy="59436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900" b="1">
                <a:solidFill>
                  <a:srgbClr val="232D3A"/>
                </a:solidFill>
                <a:latin typeface="Aptos"/>
              </a:defRPr>
            </a:pPr>
            <a:r>
              <a:t>Selected burst length is limited by the most restrictive condition: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057400"/>
            <a:ext cx="10149840" cy="868680"/>
          </a:xfrm>
          <a:prstGeom prst="roundRect">
            <a:avLst/>
          </a:prstGeom>
          <a:solidFill>
            <a:srgbClr val="EFF5FB"/>
          </a:solidFill>
          <a:ln>
            <a:solidFill>
              <a:srgbClr val="31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2267712"/>
            <a:ext cx="9692640" cy="4114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2200" b="1">
                <a:solidFill>
                  <a:srgbClr val="11233F"/>
                </a:solidFill>
                <a:latin typeface="Aptos"/>
              </a:defRPr>
            </a:pPr>
            <a:r>
              <a:t>B = min(B_remaining, B_boundary, C_FIFO, MAX_BURST)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10607040" cy="2468880"/>
          </a:xfrm>
          <a:prstGeom prst="rect">
            <a:avLst/>
          </a:prstGeom>
          <a:noFill/>
        </p:spPr>
        <p:txBody>
          <a:bodyPr wrap="square" lIns="109728" tIns="73152"/>
          <a:lstStyle/>
          <a:p>
            <a:pPr>
              <a:spcAft>
                <a:spcPts val="5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sz="1800"/>
              <a:t>Bytes per beat = 64 / 8 = 8 bytes.</a:t>
            </a:r>
          </a:p>
          <a:p>
            <a:pPr>
              <a:spcAft>
                <a:spcPts val="5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sz="1800"/>
              <a:t>Maximum burst = 16 × 8 = 128 bytes.</a:t>
            </a:r>
          </a:p>
          <a:p>
            <a:pPr>
              <a:spcAft>
                <a:spcPts val="5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sz="1800"/>
              <a:t>Bytes to 4 KB boundary = 4096 − (address mod 4096).</a:t>
            </a:r>
          </a:p>
          <a:p>
            <a:pPr>
              <a:spcAft>
                <a:spcPts val="5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sz="1800"/>
              <a:t>AXI4 encodes burst length as beats − 1: ARLEN = B − 1 and AWLEN = B − 1.</a:t>
            </a:r>
          </a:p>
          <a:p>
            <a:pPr>
              <a:spcAft>
                <a:spcPts val="5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sz="1800"/>
              <a:t>After a burst: next address = address + (B × 8); remaining bytes decrease by B × 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73152" tIns="73152" rIns="73152" bIns="73152"/>
          <a:lstStyle/>
          <a:p>
            <a:pPr>
              <a:spcAft>
                <a:spcPts val="400"/>
              </a:spcAft>
              <a:defRPr sz="2600" b="1">
                <a:solidFill>
                  <a:srgbClr val="11233F"/>
                </a:solidFill>
                <a:latin typeface="Aptos"/>
              </a:defRPr>
            </a:pPr>
            <a:r>
              <a:t>Pseudocode: Burst-Length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/>
          <a:lstStyle/>
          <a:p>
            <a:pPr>
              <a:spcAft>
                <a:spcPts val="4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ALGORITHM 1 · BOUNDARY-AWARE BURST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61872"/>
            <a:ext cx="10835640" cy="452628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332720" cy="4114800"/>
          </a:xfrm>
          <a:prstGeom prst="rect">
            <a:avLst/>
          </a:prstGeom>
          <a:noFill/>
        </p:spPr>
        <p:txBody>
          <a:bodyPr wrap="square" tIns="73152" bIns="73152"/>
          <a:lstStyle/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INPUT: current_address, remaining_bytes, fifo_free_beats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CONSTANTS: BYTES_PER_BEAT = 8, MAX_BURST = 16, BOUNDARY = 4096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endParaRPr sz="1300"/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bytes_to_boundary = BOUNDARY - (current_address MOD BOUNDARY)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beats_remaining   = remaining_bytes DIV BYTES_PER_BEAT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beats_to_boundary = bytes_to_boundary DIV BYTES_PER_BEAT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endParaRPr sz="1300"/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burst_beats = MIN(beats_remaining,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                  beats_to_boundary,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                  fifo_free_beats,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                  MAX_BURST)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endParaRPr sz="1300"/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IF burst_beats &gt; 0: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    AXI_ARLEN = burst_beats - 1   // read burst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    AXI_AWLEN = burst_beats - 1   // write burst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ELSE: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1300"/>
              <a:t>    WAIT until transfer/FIFO conditions permit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698480" cy="365760"/>
          </a:xfrm>
          <a:prstGeom prst="rect">
            <a:avLst/>
          </a:prstGeom>
          <a:noFill/>
        </p:spPr>
        <p:txBody>
          <a:bodyPr wrap="square" lIns="73152" tIns="73152" rIns="73152" bIns="73152"/>
          <a:lstStyle/>
          <a:p>
            <a:pPr>
              <a:spcAft>
                <a:spcPts val="400"/>
              </a:spcAft>
              <a:defRPr sz="1100" b="0">
                <a:solidFill>
                  <a:srgbClr val="5F6C7A"/>
                </a:solidFill>
                <a:latin typeface="Aptos"/>
              </a:defRPr>
            </a:pPr>
            <a:r>
              <a:t>The pseudocode summarizes the burst-selection equations used in the report; it is not synthesizable RTL.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/>
          <a:lstStyle/>
          <a:p>
            <a:pPr>
              <a:spcAft>
                <a:spcPts val="4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/>
          <a:lstStyle/>
          <a:p>
            <a:pPr algn="r">
              <a:spcAft>
                <a:spcPts val="4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73152" tIns="73152" rIns="73152" bIns="73152"/>
          <a:lstStyle/>
          <a:p>
            <a:pPr>
              <a:spcAft>
                <a:spcPts val="400"/>
              </a:spcAft>
              <a:defRPr sz="2600" b="1">
                <a:solidFill>
                  <a:srgbClr val="11233F"/>
                </a:solidFill>
                <a:latin typeface="Aptos"/>
              </a:defRPr>
            </a:pPr>
            <a:r>
              <a:t>Pseudocode: DMA Transfer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/>
          <a:lstStyle/>
          <a:p>
            <a:pPr>
              <a:spcAft>
                <a:spcPts val="4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ALGORITHM 2 · READ, BUFFER, WRITE, AND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61872"/>
            <a:ext cx="10835640" cy="452628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332720" cy="4114800"/>
          </a:xfrm>
          <a:prstGeom prst="rect">
            <a:avLst/>
          </a:prstGeom>
          <a:noFill/>
        </p:spPr>
        <p:txBody>
          <a:bodyPr wrap="square" tIns="73152" bIns="73152"/>
          <a:lstStyle/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ON </a:t>
            </a:r>
            <a:r>
              <a:rPr sz="900" dirty="0" err="1"/>
              <a:t>start_request</a:t>
            </a:r>
            <a:r>
              <a:rPr sz="900" dirty="0"/>
              <a:t>: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source_address</a:t>
            </a:r>
            <a:r>
              <a:rPr sz="900" dirty="0"/>
              <a:t>      = </a:t>
            </a:r>
            <a:r>
              <a:rPr sz="900" dirty="0" err="1"/>
              <a:t>configured_source</a:t>
            </a:r>
            <a:endParaRPr sz="900" dirty="0"/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destination_address</a:t>
            </a:r>
            <a:r>
              <a:rPr sz="900" dirty="0"/>
              <a:t> = </a:t>
            </a:r>
            <a:r>
              <a:rPr sz="900" dirty="0" err="1"/>
              <a:t>configured_destination</a:t>
            </a:r>
            <a:endParaRPr sz="900" dirty="0"/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remaining_bytes</a:t>
            </a:r>
            <a:r>
              <a:rPr sz="900" dirty="0"/>
              <a:t>     = </a:t>
            </a:r>
            <a:r>
              <a:rPr sz="900" dirty="0" err="1"/>
              <a:t>configured_length</a:t>
            </a:r>
            <a:endParaRPr sz="900" dirty="0"/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busy = 1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done = 0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WHILE </a:t>
            </a:r>
            <a:r>
              <a:rPr sz="900" dirty="0" err="1"/>
              <a:t>remaining_bytes</a:t>
            </a:r>
            <a:r>
              <a:rPr sz="900" dirty="0"/>
              <a:t> &gt; 0: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read_beats</a:t>
            </a:r>
            <a:r>
              <a:rPr sz="900" dirty="0"/>
              <a:t> = </a:t>
            </a:r>
            <a:r>
              <a:rPr sz="900" dirty="0" err="1"/>
              <a:t>calculate_burst</a:t>
            </a:r>
            <a:r>
              <a:rPr sz="900" dirty="0"/>
              <a:t>(</a:t>
            </a:r>
            <a:r>
              <a:rPr sz="900" dirty="0" err="1"/>
              <a:t>source_address</a:t>
            </a:r>
            <a:r>
              <a:rPr sz="900" dirty="0"/>
              <a:t>, </a:t>
            </a:r>
            <a:r>
              <a:rPr sz="900" dirty="0" err="1"/>
              <a:t>remaining_bytes</a:t>
            </a:r>
            <a:r>
              <a:rPr sz="900" dirty="0"/>
              <a:t>, </a:t>
            </a:r>
            <a:r>
              <a:rPr sz="900" dirty="0" err="1"/>
              <a:t>fifo_space</a:t>
            </a:r>
            <a:r>
              <a:rPr sz="900" dirty="0"/>
              <a:t>)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issue AXI read address and receive read data into FIFO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wait until the required read data is available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endParaRPr sz="900" dirty="0"/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write_beats</a:t>
            </a:r>
            <a:r>
              <a:rPr sz="900" dirty="0"/>
              <a:t> = </a:t>
            </a:r>
            <a:r>
              <a:rPr sz="900" dirty="0" err="1"/>
              <a:t>calculate_burst</a:t>
            </a:r>
            <a:r>
              <a:rPr sz="900" dirty="0"/>
              <a:t>(</a:t>
            </a:r>
            <a:r>
              <a:rPr sz="900" dirty="0" err="1"/>
              <a:t>destination_address</a:t>
            </a:r>
            <a:r>
              <a:rPr sz="900" dirty="0"/>
              <a:t>, </a:t>
            </a:r>
            <a:r>
              <a:rPr sz="900" dirty="0" err="1"/>
              <a:t>remaining_bytes</a:t>
            </a:r>
            <a:r>
              <a:rPr sz="900" dirty="0"/>
              <a:t>, </a:t>
            </a:r>
            <a:r>
              <a:rPr sz="900" dirty="0" err="1"/>
              <a:t>fifo_data</a:t>
            </a:r>
            <a:r>
              <a:rPr sz="900" dirty="0"/>
              <a:t>)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issue AXI write address and send FIFO data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assert WLAST on the final beat of the write burst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wait for the AXI write response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endParaRPr sz="900" dirty="0"/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bytes_done</a:t>
            </a:r>
            <a:r>
              <a:rPr sz="900" dirty="0"/>
              <a:t> = </a:t>
            </a:r>
            <a:r>
              <a:rPr sz="900" dirty="0" err="1"/>
              <a:t>completed_beats</a:t>
            </a:r>
            <a:r>
              <a:rPr sz="900" dirty="0"/>
              <a:t> * BYTES_PER_BEAT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source_address</a:t>
            </a:r>
            <a:r>
              <a:rPr sz="900" dirty="0"/>
              <a:t>      += </a:t>
            </a:r>
            <a:r>
              <a:rPr sz="900" dirty="0" err="1"/>
              <a:t>bytes_done</a:t>
            </a:r>
            <a:endParaRPr sz="900" dirty="0"/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destination_address</a:t>
            </a:r>
            <a:r>
              <a:rPr sz="900" dirty="0"/>
              <a:t> += </a:t>
            </a:r>
            <a:r>
              <a:rPr sz="900" dirty="0" err="1"/>
              <a:t>bytes_done</a:t>
            </a:r>
            <a:endParaRPr sz="900" dirty="0"/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remaining_bytes</a:t>
            </a:r>
            <a:r>
              <a:rPr sz="900" dirty="0"/>
              <a:t>     -= </a:t>
            </a:r>
            <a:r>
              <a:rPr sz="900" dirty="0" err="1"/>
              <a:t>bytes_done</a:t>
            </a:r>
            <a:r>
              <a:rPr lang="en-US" sz="900" dirty="0"/>
              <a:t>   								</a:t>
            </a:r>
            <a:endParaRPr sz="1250" dirty="0"/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800" dirty="0"/>
              <a:t>busy = 0</a:t>
            </a:r>
          </a:p>
          <a:p>
            <a:pPr>
              <a:spcAft>
                <a:spcPts val="400"/>
              </a:spcAft>
              <a:defRPr sz="1500" b="0">
                <a:solidFill>
                  <a:srgbClr val="232D3A"/>
                </a:solidFill>
                <a:latin typeface="Consolas"/>
              </a:defRPr>
            </a:pPr>
            <a:r>
              <a:rPr sz="800" dirty="0"/>
              <a:t>done 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698480" cy="365760"/>
          </a:xfrm>
          <a:prstGeom prst="rect">
            <a:avLst/>
          </a:prstGeom>
          <a:noFill/>
        </p:spPr>
        <p:txBody>
          <a:bodyPr wrap="square" lIns="73152" tIns="73152" rIns="73152" bIns="73152"/>
          <a:lstStyle/>
          <a:p>
            <a:pPr>
              <a:spcAft>
                <a:spcPts val="400"/>
              </a:spcAft>
              <a:defRPr sz="1100" b="0">
                <a:solidFill>
                  <a:srgbClr val="5F6C7A"/>
                </a:solidFill>
                <a:latin typeface="Aptos"/>
              </a:defRPr>
            </a:pPr>
            <a:r>
              <a:rPr dirty="0"/>
              <a:t>only. Exact read/write overlap and counter updates depend on the implemented RTL state machines.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/>
          <a:lstStyle/>
          <a:p>
            <a:pPr>
              <a:spcAft>
                <a:spcPts val="4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/>
          <a:lstStyle/>
          <a:p>
            <a:pPr algn="r">
              <a:spcAft>
                <a:spcPts val="4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Functional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SIMULATION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212080" cy="19202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2C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49377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700" b="1">
                <a:solidFill>
                  <a:srgbClr val="11233F"/>
                </a:solidFill>
                <a:latin typeface="Aptos"/>
              </a:defRPr>
            </a:pPr>
            <a:r>
              <a:t>Test Case 1 — 256-byte transfer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4937760" cy="12984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Source memory initialized with known data. After DMA completion, destination contents were compared with source data.</a:t>
            </a:r>
          </a:p>
          <a:p>
            <a:pPr>
              <a:spcAft>
                <a:spcPts val="6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Result: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12080" cy="19202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73152" cy="1920240"/>
          </a:xfrm>
          <a:prstGeom prst="rect">
            <a:avLst/>
          </a:prstGeom>
          <a:solidFill>
            <a:srgbClr val="20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27048"/>
            <a:ext cx="49377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700" b="1">
                <a:solidFill>
                  <a:srgbClr val="11233F"/>
                </a:solidFill>
                <a:latin typeface="Aptos"/>
              </a:defRPr>
            </a:pPr>
            <a:r>
              <a:t>Test Case 2 — 4 KB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4937760" cy="12984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Transfer begins at 0x0FE0 near the 0x1000 boundary. Burst splitting prevents an individual burst from crossing the boundary.</a:t>
            </a:r>
          </a:p>
          <a:p>
            <a:pPr>
              <a:spcAft>
                <a:spcPts val="6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Result: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332720" cy="59436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2400" b="1">
                <a:solidFill>
                  <a:srgbClr val="2C8B69"/>
                </a:solidFill>
                <a:latin typeface="Aptos"/>
              </a:defRPr>
            </a:pPr>
            <a:r>
              <a:t>Overall simulation result: ALL TESTS PASSED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92040"/>
            <a:ext cx="10241280" cy="6858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400" b="0">
                <a:solidFill>
                  <a:srgbClr val="5F6C7A"/>
                </a:solidFill>
                <a:latin typeface="Aptos"/>
              </a:defRPr>
            </a:pPr>
            <a:r>
              <a:t>These results apply to the tested RTL and internal AXI4 RAM verification setup; they do not by themselves prove external DDR or physical-board functionality.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Simulation Waveform and Transfer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VERIFICATION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246120" cy="914400"/>
          </a:xfrm>
          <a:prstGeom prst="roundRect">
            <a:avLst/>
          </a:prstGeom>
          <a:solidFill>
            <a:srgbClr val="EFF5FB"/>
          </a:solidFill>
          <a:ln>
            <a:solidFill>
              <a:srgbClr val="206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27631"/>
            <a:ext cx="384048" cy="36576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900" b="1">
                <a:solidFill>
                  <a:srgbClr val="31B7C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45919"/>
            <a:ext cx="251460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500" b="1">
                <a:solidFill>
                  <a:srgbClr val="11233F"/>
                </a:solidFill>
                <a:latin typeface="Aptos"/>
              </a:defRPr>
            </a:pPr>
            <a:r>
              <a:t>Start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3246120" cy="914400"/>
          </a:xfrm>
          <a:prstGeom prst="roundRect">
            <a:avLst/>
          </a:prstGeom>
          <a:solidFill>
            <a:srgbClr val="EFF5FB"/>
          </a:solidFill>
          <a:ln>
            <a:solidFill>
              <a:srgbClr val="206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627631"/>
            <a:ext cx="384048" cy="36576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900" b="1">
                <a:solidFill>
                  <a:srgbClr val="31B7C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45919"/>
            <a:ext cx="251460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500" b="1">
                <a:solidFill>
                  <a:srgbClr val="11233F"/>
                </a:solidFill>
                <a:latin typeface="Aptos"/>
              </a:defRPr>
            </a:pPr>
            <a:r>
              <a:t>Read address handshake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508760"/>
            <a:ext cx="3246120" cy="914400"/>
          </a:xfrm>
          <a:prstGeom prst="roundRect">
            <a:avLst/>
          </a:prstGeom>
          <a:solidFill>
            <a:srgbClr val="EFF5FB"/>
          </a:solidFill>
          <a:ln>
            <a:solidFill>
              <a:srgbClr val="206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627631"/>
            <a:ext cx="384048" cy="36576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900" b="1">
                <a:solidFill>
                  <a:srgbClr val="31B7C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645919"/>
            <a:ext cx="251460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500" b="1">
                <a:solidFill>
                  <a:srgbClr val="11233F"/>
                </a:solidFill>
                <a:latin typeface="Aptos"/>
              </a:defRPr>
            </a:pPr>
            <a:r>
              <a:t>Read data → FIFO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63239"/>
            <a:ext cx="3246120" cy="914400"/>
          </a:xfrm>
          <a:prstGeom prst="roundRect">
            <a:avLst/>
          </a:prstGeom>
          <a:solidFill>
            <a:srgbClr val="EFF5FB"/>
          </a:solidFill>
          <a:ln>
            <a:solidFill>
              <a:srgbClr val="206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384048" cy="36576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900" b="1">
                <a:solidFill>
                  <a:srgbClr val="31B7C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00399"/>
            <a:ext cx="251460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500" b="1">
                <a:solidFill>
                  <a:srgbClr val="11233F"/>
                </a:solidFill>
                <a:latin typeface="Aptos"/>
              </a:defRPr>
            </a:pPr>
            <a:r>
              <a:t>Write address/data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063239"/>
            <a:ext cx="3246120" cy="914400"/>
          </a:xfrm>
          <a:prstGeom prst="roundRect">
            <a:avLst/>
          </a:prstGeom>
          <a:solidFill>
            <a:srgbClr val="EFF5FB"/>
          </a:solidFill>
          <a:ln>
            <a:solidFill>
              <a:srgbClr val="206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3182111"/>
            <a:ext cx="384048" cy="36576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900" b="1">
                <a:solidFill>
                  <a:srgbClr val="31B7C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200399"/>
            <a:ext cx="251460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500" b="1">
                <a:solidFill>
                  <a:srgbClr val="11233F"/>
                </a:solidFill>
                <a:latin typeface="Aptos"/>
              </a:defRPr>
            </a:pPr>
            <a:r>
              <a:t>Write response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3063239"/>
            <a:ext cx="3246120" cy="914400"/>
          </a:xfrm>
          <a:prstGeom prst="roundRect">
            <a:avLst/>
          </a:prstGeom>
          <a:solidFill>
            <a:srgbClr val="EFF5FB"/>
          </a:solidFill>
          <a:ln>
            <a:solidFill>
              <a:srgbClr val="206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3182111"/>
            <a:ext cx="384048" cy="36576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900" b="1">
                <a:solidFill>
                  <a:srgbClr val="31B7C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200399"/>
            <a:ext cx="251460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500" b="1">
                <a:solidFill>
                  <a:srgbClr val="11233F"/>
                </a:solidFill>
                <a:latin typeface="Aptos"/>
              </a:defRPr>
            </a:pPr>
            <a:r>
              <a:t>Done asserted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29200"/>
            <a:ext cx="102412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300" b="0">
                <a:solidFill>
                  <a:srgbClr val="5F6C7A"/>
                </a:solidFill>
                <a:latin typeface="Aptos"/>
              </a:defRPr>
            </a:pPr>
            <a:r>
              <a:t>Use the project’s actual XSim waveform screenshot on this slide if a visual waveform is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FPGA Resource Utilization and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IMPLEMENTATION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832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73152" cy="1234440"/>
          </a:xfrm>
          <a:prstGeom prst="rect">
            <a:avLst/>
          </a:prstGeom>
          <a:solidFill>
            <a:srgbClr val="20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435607"/>
            <a:ext cx="31089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700" b="1">
                <a:solidFill>
                  <a:srgbClr val="11233F"/>
                </a:solidFill>
                <a:latin typeface="Aptos"/>
              </a:defRPr>
            </a:pPr>
            <a:r>
              <a:t>Slice LUTs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56231"/>
            <a:ext cx="3108960" cy="6126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0">
                <a:solidFill>
                  <a:srgbClr val="232D3A"/>
                </a:solidFill>
                <a:latin typeface="Aptos"/>
              </a:defRPr>
            </a:pPr>
            <a:r>
              <a:t>285 used  |  0.45%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3832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73152" cy="1234440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435607"/>
            <a:ext cx="31089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700" b="1">
                <a:solidFill>
                  <a:srgbClr val="11233F"/>
                </a:solidFill>
                <a:latin typeface="Aptos"/>
              </a:defRPr>
            </a:pPr>
            <a:r>
              <a:t>Slice Registers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56231"/>
            <a:ext cx="3108960" cy="6126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0">
                <a:solidFill>
                  <a:srgbClr val="232D3A"/>
                </a:solidFill>
                <a:latin typeface="Aptos"/>
              </a:defRPr>
            </a:pPr>
            <a:r>
              <a:t>158 used  |  0.12%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3832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73152" cy="1234440"/>
          </a:xfrm>
          <a:prstGeom prst="rect">
            <a:avLst/>
          </a:prstGeom>
          <a:solidFill>
            <a:srgbClr val="2C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435607"/>
            <a:ext cx="31089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700" b="1">
                <a:solidFill>
                  <a:srgbClr val="11233F"/>
                </a:solidFill>
                <a:latin typeface="Aptos"/>
              </a:defRPr>
            </a:pPr>
            <a:r>
              <a:t>Bonded I/O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856231"/>
            <a:ext cx="3108960" cy="6126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0">
                <a:solidFill>
                  <a:srgbClr val="232D3A"/>
                </a:solidFill>
                <a:latin typeface="Aptos"/>
              </a:defRPr>
            </a:pPr>
            <a:r>
              <a:t>62 used  |  29.52%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828800" y="2880360"/>
          <a:ext cx="8503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Timing metric</a:t>
                      </a:r>
                    </a:p>
                  </a:txBody>
                  <a:tcPr marL="109728" marR="109728" marT="27432" marB="27432">
                    <a:solidFill>
                      <a:srgbClr val="11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Reported result</a:t>
                      </a:r>
                    </a:p>
                  </a:txBody>
                  <a:tcPr marL="109728" marR="109728" marT="27432" marB="27432">
                    <a:solidFill>
                      <a:srgbClr val="11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Clock frequency</a:t>
                      </a:r>
                    </a:p>
                  </a:txBody>
                  <a:tcPr marL="109728" marR="109728" marT="27432" marB="27432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100 MHz</a:t>
                      </a:r>
                    </a:p>
                  </a:txBody>
                  <a:tcPr marL="109728" marR="109728" marT="27432" marB="27432"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Synthesis WNS</a:t>
                      </a:r>
                    </a:p>
                  </a:txBody>
                  <a:tcPr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 +1.594 ns</a:t>
                      </a:r>
                    </a:p>
                  </a:txBody>
                  <a:tcPr marL="109728" marR="10972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Post-implementation WNS</a:t>
                      </a:r>
                    </a:p>
                  </a:txBody>
                  <a:tcPr marL="109728" marR="109728" marT="27432" marB="27432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+0.981 ns</a:t>
                      </a:r>
                    </a:p>
                  </a:txBody>
                  <a:tcPr marL="109728" marR="109728" marT="27432" marB="27432"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Post-implementation TNS</a:t>
                      </a:r>
                    </a:p>
                  </a:txBody>
                  <a:tcPr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 ns</a:t>
                      </a:r>
                    </a:p>
                  </a:txBody>
                  <a:tcPr marL="109728" marR="10972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Post-implementation WHS</a:t>
                      </a:r>
                    </a:p>
                  </a:txBody>
                  <a:tcPr marL="109728" marR="109728" marT="27432" marB="27432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+0.122 ns</a:t>
                      </a:r>
                    </a:p>
                  </a:txBody>
                  <a:tcPr marL="109728" marR="109728" marT="27432" marB="27432">
                    <a:solidFill>
                      <a:srgbClr val="EF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THS / failing endpoints</a:t>
                      </a:r>
                    </a:p>
                  </a:txBody>
                  <a:tcPr marL="109728" marR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 ns / 0</a:t>
                      </a:r>
                    </a:p>
                  </a:txBody>
                  <a:tcPr marL="109728" marR="10972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Power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VIVADO POWER ESTIMATE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291840" cy="114300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73152" cy="1143000"/>
          </a:xfrm>
          <a:prstGeom prst="rect">
            <a:avLst/>
          </a:prstGeom>
          <a:solidFill>
            <a:srgbClr val="20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89888"/>
            <a:ext cx="301752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1">
                <a:solidFill>
                  <a:srgbClr val="11233F"/>
                </a:solidFill>
                <a:latin typeface="Aptos"/>
              </a:defRPr>
            </a:pPr>
            <a:r>
              <a:t>Total on-chip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10512"/>
            <a:ext cx="3017520" cy="521207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200" b="0">
                <a:solidFill>
                  <a:srgbClr val="232D3A"/>
                </a:solidFill>
                <a:latin typeface="Aptos"/>
              </a:defRPr>
            </a:pPr>
            <a:r>
              <a:t>0.219 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80160"/>
            <a:ext cx="3291840" cy="114300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280160"/>
            <a:ext cx="73152" cy="1143000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389888"/>
            <a:ext cx="301752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1">
                <a:solidFill>
                  <a:srgbClr val="11233F"/>
                </a:solidFill>
                <a:latin typeface="Aptos"/>
              </a:defRPr>
            </a:pPr>
            <a:r>
              <a:t>Dynamic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810512"/>
            <a:ext cx="3017520" cy="521207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200" b="0">
                <a:solidFill>
                  <a:srgbClr val="232D3A"/>
                </a:solidFill>
                <a:latin typeface="Aptos"/>
              </a:defRPr>
            </a:pPr>
            <a:r>
              <a:t>0.111 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291840" cy="114300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73152" cy="1143000"/>
          </a:xfrm>
          <a:prstGeom prst="rect">
            <a:avLst/>
          </a:prstGeom>
          <a:solidFill>
            <a:srgbClr val="2C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389888"/>
            <a:ext cx="301752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1">
                <a:solidFill>
                  <a:srgbClr val="11233F"/>
                </a:solidFill>
                <a:latin typeface="Aptos"/>
              </a:defRPr>
            </a:pPr>
            <a:r>
              <a:t>Device static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10512"/>
            <a:ext cx="3017520" cy="521207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200" b="0">
                <a:solidFill>
                  <a:srgbClr val="232D3A"/>
                </a:solidFill>
                <a:latin typeface="Aptos"/>
              </a:defRPr>
            </a:pPr>
            <a:r>
              <a:t>0.108 W</a:t>
            </a:r>
          </a:p>
        </p:txBody>
      </p:sp>
      <p:pic>
        <p:nvPicPr>
          <p:cNvPr id="20" name="Picture 19" descr="WhatsApp Image 2026-10-11 at 4.41.03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6400800" cy="20842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35240" y="2926080"/>
            <a:ext cx="3566160" cy="1371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600" b="0">
                <a:solidFill>
                  <a:srgbClr val="232D3A"/>
                </a:solidFill>
                <a:latin typeface="Aptos"/>
              </a:defRPr>
            </a:pPr>
            <a:r>
              <a:t>Estimated junction temperature: 27.5 °C</a:t>
            </a:r>
          </a:p>
          <a:p>
            <a:pPr>
              <a:spcAft>
                <a:spcPts val="600"/>
              </a:spcAft>
              <a:defRPr sz="1600" b="0">
                <a:solidFill>
                  <a:srgbClr val="232D3A"/>
                </a:solidFill>
                <a:latin typeface="Aptos"/>
              </a:defRPr>
            </a:pPr>
            <a:r>
              <a:t>Ambient assumption: 25 °C</a:t>
            </a:r>
          </a:p>
          <a:p>
            <a:pPr>
              <a:spcAft>
                <a:spcPts val="600"/>
              </a:spcAft>
              <a:defRPr sz="1600" b="0">
                <a:solidFill>
                  <a:srgbClr val="232D3A"/>
                </a:solidFill>
                <a:latin typeface="Aptos"/>
              </a:defRPr>
            </a:pPr>
            <a:r>
              <a:t>Process: Typical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572000"/>
            <a:ext cx="3566160" cy="7315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Power values are tool estimates; actual board power can vary.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6400800" cy="32004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100" b="1">
                <a:solidFill>
                  <a:srgbClr val="5F6C7A"/>
                </a:solidFill>
                <a:latin typeface="Aptos"/>
              </a:defRPr>
            </a:pPr>
            <a:r>
              <a:t>Figure: Vivado on-chip power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Post-Implementation Timing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TIMING CLOSURE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8" name="Picture 7" descr="WhatsApp Image 2026-10-11 at 4.41.13 A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10698480" cy="32085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600" b="0">
                <a:solidFill>
                  <a:srgbClr val="232D3A"/>
                </a:solidFill>
                <a:latin typeface="Aptos"/>
              </a:defRPr>
            </a:pPr>
            <a:r>
              <a:t>Reported: WNS +0.981 ns, TNS 0 ns, WHS +0.122 ns, THS 0 ns, and zero failing setup/hold endpoints. Vivado reports that user-specified timing constraints are met for this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100" b="0">
                <a:solidFill>
                  <a:srgbClr val="5F6C7A"/>
                </a:solidFill>
                <a:latin typeface="Aptos"/>
              </a:defRPr>
            </a:pPr>
            <a:r>
              <a:t>Timing closure is constraint-dependent; CDC behavior should also be validated.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Implementation and Bitstream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VIVADO RUN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8" name="Picture 7" descr="WhatsApp Image 2026-10-11 at 4.41.45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14606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709160"/>
            <a:ext cx="10515600" cy="77724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The screenshot captured impl_1 while write_bitstream was running. Confirm that the run finishes successfully before reporting the bitstream as generated or claiming successful FPGA programming.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2700" b="1">
                <a:solidFill>
                  <a:srgbClr val="11233F"/>
                </a:solidFill>
                <a:latin typeface="Aptos"/>
              </a:defRPr>
            </a:pPr>
            <a:r>
              <a:t>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900" b="1">
                <a:solidFill>
                  <a:srgbClr val="2064A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AXI4 MASTER WITH BURST TRANSFER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5624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r">
              <a:spcAft>
                <a:spcPts val="6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19202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73152" cy="1920240"/>
          </a:xfrm>
          <a:prstGeom prst="rect">
            <a:avLst/>
          </a:prstGeom>
          <a:solidFill>
            <a:srgbClr val="2C8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435607"/>
            <a:ext cx="49377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700" b="1">
                <a:solidFill>
                  <a:srgbClr val="11233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56231"/>
            <a:ext cx="4937760" cy="12984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A modular AXI4 DMA master was designed and functionally verified for the reported test cases. The design includes burst calculation, read/write engines, FIFO buffering, transaction tracking, and 4 KB boundary handling.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212080" cy="1920240"/>
          </a:xfrm>
          <a:prstGeom prst="roundRect">
            <a:avLst/>
          </a:prstGeom>
          <a:solidFill>
            <a:srgbClr val="EFF5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73152" cy="1920240"/>
          </a:xfrm>
          <a:prstGeom prst="rect">
            <a:avLst/>
          </a:prstGeom>
          <a:solidFill>
            <a:srgbClr val="20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435607"/>
            <a:ext cx="4937760" cy="3840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700" b="1">
                <a:solidFill>
                  <a:srgbClr val="11233F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56231"/>
            <a:ext cx="4937760" cy="1298448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>
              <a:spcAft>
                <a:spcPts val="6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Integrate external DDR/MIG, expand verification for backpressure and error responses, test larger transfers, improve transaction scheduling, and validate the design on the target FPGA board.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10515600" cy="45720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1600" b="1">
                <a:solidFill>
                  <a:srgbClr val="11233F"/>
                </a:solidFill>
                <a:latin typeface="Aptos"/>
              </a:defRPr>
            </a:pPr>
            <a:r>
              <a:t>Key result: 256-byte transfer PASS • 4 KB boundary test PASS • Implementation timing summary has zero failing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6400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>
              <a:spcAft>
                <a:spcPts val="600"/>
              </a:spcAft>
              <a:defRPr sz="2800" b="1">
                <a:solidFill>
                  <a:srgbClr val="2064A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1509</Words>
  <Application>Microsoft Office PowerPoint</Application>
  <PresentationFormat>Widescreen</PresentationFormat>
  <Paragraphs>244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AXI4 Master with Burst Transfer Support for DMA-to-Memory Data Movement</dc:title>
  <dc:subject>B.Tech ECE project presentation</dc:subject>
  <dc:creator>Yelleti Harshavardhan</dc:creator>
  <cp:keywords>AXI4, DMA, FPGA, Vivado, burst transfer</cp:keywords>
  <dc:description>generated using python-pptx</dc:description>
  <cp:lastModifiedBy>Harsha Abhi</cp:lastModifiedBy>
  <cp:revision>2</cp:revision>
  <dcterms:created xsi:type="dcterms:W3CDTF">2013-01-27T09:14:16Z</dcterms:created>
  <dcterms:modified xsi:type="dcterms:W3CDTF">2026-10-11T03:59:53Z</dcterms:modified>
  <cp:category/>
</cp:coreProperties>
</file>