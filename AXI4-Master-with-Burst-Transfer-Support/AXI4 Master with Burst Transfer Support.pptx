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8" r:id="rId10"/>
    <p:sldId id="269" r:id="rId11"/>
    <p:sldId id="270" r:id="rId12"/>
    <p:sldId id="271" r:id="rId13"/>
    <p:sldId id="272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3234-4CAA-8D23-A3DD-DDD6B610E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12FA9-7BBD-6278-B0C2-C97C3C2B4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27D1-2130-9B8F-0059-4D617EB6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5EBDB-A0F7-3D31-7E1C-37FE1B08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F194-5BD2-8347-1C4E-95E70820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FF48-33EB-10CF-8F7F-C7F6FFC8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E93C-FCFE-ECCB-5AA0-86981723C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B88D-7A45-69B9-488E-61324BBB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7097E-5FE2-38B3-CC74-AF27E630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69C1-FC30-201A-1628-0463D6FF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2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74A8-1E1A-A1E7-82DB-C0869612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EF7AD-3C3D-FF53-8CA0-F45A52B2C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6D2C-1293-CB23-B8E0-4056D3D8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CA20D-F212-1615-A86A-A6A09A40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6FD9-13E3-9F9B-381D-5CE78CD2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1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17D-3554-77FE-5162-73A41266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18556-2D04-061C-3026-103CFFA73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5C9EA-4A69-5641-23DA-6EE8775B5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232F4-C734-72BF-3538-24ED9A7A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25001-69F0-3F33-63C1-6E40F101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71B01-AFAF-F188-00AD-F02ECB42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A521-463C-DB83-EB5F-3D521689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19E5A-FB8A-3FC2-F5FB-7888C8A1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4141-0976-0BB9-D399-5B045106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ACB52-7981-6F43-3EBA-73DC0BBFE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77EB1-1A19-BB14-C0CC-FC45656E6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BF3E2-B0A8-6458-9C62-17892437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77499-E13E-0844-6058-EE6B0180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6DDE2-3A2D-DE6F-F294-A16413C7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3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CFFA-BAB7-AD43-81A9-DB3FECAC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A0A33-51AF-034E-57EE-D800D6C7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E0134-2815-4191-038B-29FB833E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EB74C-D6BD-B724-6C33-C7E7E47D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89DF7-2FC0-FFD4-5125-F2E788F4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C5EC9-0944-4D8F-8754-6D80A882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42820-F81A-CE0F-9293-BA7AE686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9748-3ABB-E4C3-1FD6-685A9E6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6F448-7604-F87F-97D5-2EF3638BD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19AC2-8720-D680-DB15-F181066BB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BE05-79F2-3E3E-3CC9-148B74D5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BCE05-A0E4-5BA8-4E2B-D9E68449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780D9-6FC7-782B-C3D8-7D6723F8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D6F3-4157-CED5-C77F-F4B0E21E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DDCD2-EED9-E7E1-E0BE-06FF16A28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8ABB5-D73B-8C8B-FF80-C6D169D93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9B99C-7B7A-D607-D350-D23379CD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670AC-E270-E0B2-EF9A-E4E667F4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F8633-691B-4013-C25E-A1A2E4AA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23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89EF-CD7F-D046-0E94-ECE3AE1A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82AE5-5E3E-5165-D803-2704AF98F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A7030-4AC8-A1C6-F7F0-08D30D39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42401-8B73-27A5-2ACD-C74D27BF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49A36-BDAB-774D-9BA9-0F2BDEDD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6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F53B0-2709-B162-67DA-EB5883F9F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76BD9-17A2-A298-D294-560887D2D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F0FB1-1F49-3273-5CA2-F5E94593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26044-4FE6-F677-DC18-59C503A3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184FE-F23A-142B-3FDD-B2E07D07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9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63935-48CB-B93E-E605-C3724778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CC42C-5F26-A66B-CBE9-D1B9525BD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274F7-FBD3-99A2-F633-8DD508213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73BEB-76FA-4A43-ABC5-613CE94D47F7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D7FDB-6A1A-7055-2CDC-F1B4531B2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8754-CB97-F354-7FA9-07FD22819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65E71-0AC7-4C30-8366-FDCCB3B11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985A-861D-7E84-F6ED-40FF5E706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45" y="422787"/>
            <a:ext cx="11995355" cy="1809136"/>
          </a:xfrm>
        </p:spPr>
        <p:txBody>
          <a:bodyPr/>
          <a:lstStyle/>
          <a:p>
            <a:r>
              <a:rPr lang="en-US" dirty="0"/>
              <a:t>AXI4 Master with Burst Transfer Support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84CA7-B636-2476-52A2-95C200C3A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and Implementation of a High-Performance DMA Controller for External Memory Access.</a:t>
            </a:r>
          </a:p>
          <a:p>
            <a:pPr algn="r"/>
            <a:r>
              <a:rPr lang="en-US" b="1" dirty="0"/>
              <a:t>Presented by:</a:t>
            </a:r>
            <a:br>
              <a:rPr lang="en-US" dirty="0"/>
            </a:br>
            <a:r>
              <a:rPr lang="en-US" dirty="0" err="1"/>
              <a:t>Yelleti</a:t>
            </a:r>
            <a:r>
              <a:rPr lang="en-US" dirty="0"/>
              <a:t> Harshavardhan</a:t>
            </a:r>
          </a:p>
        </p:txBody>
      </p:sp>
    </p:spTree>
    <p:extLst>
      <p:ext uri="{BB962C8B-B14F-4D97-AF65-F5344CB8AC3E}">
        <p14:creationId xmlns:p14="http://schemas.microsoft.com/office/powerpoint/2010/main" val="43620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E6D6-EA68-1B01-40DE-56EECAE81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D4B7-FE71-5ACE-8B90-00D44376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743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Design a high-performance AXI4 Master supporting.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DMA-based memory transfer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Burst Read and Burst Write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Multiple Outstanding Transactions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FIFO Buffering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4KB Boundary Handling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FPGA Implementation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ASIC Ready RTL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BED6-AE3C-C967-4048-1A374F46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Project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55FC-A568-3507-D11D-86973C794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61" y="1799304"/>
            <a:ext cx="11157155" cy="3480620"/>
          </a:xfrm>
        </p:spPr>
        <p:txBody>
          <a:bodyPr/>
          <a:lstStyle/>
          <a:p>
            <a:r>
              <a:rPr lang="en-US" dirty="0"/>
              <a:t>Requirement Analysis -&gt; AXI4 Protocol Study -&gt;Architecture Design-&gt;</a:t>
            </a:r>
          </a:p>
          <a:p>
            <a:pPr marL="0" indent="0">
              <a:buNone/>
            </a:pPr>
            <a:r>
              <a:rPr lang="en-US" dirty="0"/>
              <a:t>  &lt;-AXI Read Channel&lt;- DMA Engine Design&lt;-RTL Module Development</a:t>
            </a:r>
          </a:p>
          <a:p>
            <a:pPr marL="0" indent="0">
              <a:buNone/>
            </a:pPr>
            <a:r>
              <a:rPr lang="en-US" dirty="0"/>
              <a:t>AXI Write Channel -&gt;Burst Transfer Support-&gt;Outstanding Transactions-&gt;</a:t>
            </a:r>
          </a:p>
          <a:p>
            <a:pPr marL="0" indent="0" algn="r">
              <a:buNone/>
            </a:pPr>
            <a:r>
              <a:rPr lang="en-US" dirty="0"/>
              <a:t>Performance Analysis&lt;-FPGA Implementation&lt;-Verification</a:t>
            </a:r>
          </a:p>
        </p:txBody>
      </p:sp>
    </p:spTree>
    <p:extLst>
      <p:ext uri="{BB962C8B-B14F-4D97-AF65-F5344CB8AC3E}">
        <p14:creationId xmlns:p14="http://schemas.microsoft.com/office/powerpoint/2010/main" val="67368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D566-E57F-0ADF-3E57-DB1D75A6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Requirement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00B4F-2BB8-7A2E-2992-DBEBB0CAF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Objectives  </a:t>
            </a:r>
          </a:p>
          <a:p>
            <a:r>
              <a:rPr lang="en-US" dirty="0"/>
              <a:t>Understand</a:t>
            </a:r>
          </a:p>
          <a:p>
            <a:pPr lvl="0"/>
            <a:r>
              <a:rPr lang="en-US" dirty="0"/>
              <a:t>AXI4 Protocol </a:t>
            </a:r>
          </a:p>
          <a:p>
            <a:pPr lvl="0"/>
            <a:r>
              <a:rPr lang="en-US" dirty="0"/>
              <a:t>DMA Operation </a:t>
            </a:r>
          </a:p>
          <a:p>
            <a:pPr lvl="0"/>
            <a:r>
              <a:rPr lang="en-US" dirty="0"/>
              <a:t>DDR Memory </a:t>
            </a:r>
          </a:p>
          <a:p>
            <a:pPr lvl="0"/>
            <a:r>
              <a:rPr lang="en-US" dirty="0"/>
              <a:t>Burst Transactions </a:t>
            </a:r>
          </a:p>
          <a:p>
            <a:pPr lvl="0"/>
            <a:r>
              <a:rPr lang="en-US" dirty="0"/>
              <a:t>AXI Handshake </a:t>
            </a:r>
          </a:p>
          <a:p>
            <a:pPr lvl="0"/>
            <a:r>
              <a:rPr lang="en-US" dirty="0"/>
              <a:t>Outstanding Transactions</a:t>
            </a:r>
          </a:p>
          <a:p>
            <a:pPr algn="r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5812F-2EBF-6623-8846-4A632A8CDB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Deliverables</a:t>
            </a:r>
          </a:p>
          <a:p>
            <a:pPr lvl="0"/>
            <a:r>
              <a:rPr lang="en-US" dirty="0"/>
              <a:t>Functional Specification </a:t>
            </a:r>
          </a:p>
          <a:p>
            <a:pPr lvl="0"/>
            <a:r>
              <a:rPr lang="en-US" dirty="0"/>
              <a:t>Interface Definition </a:t>
            </a:r>
          </a:p>
          <a:p>
            <a:pPr lvl="0"/>
            <a:r>
              <a:rPr lang="en-US" dirty="0"/>
              <a:t>Block Diagram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95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6606-48A7-B1C3-402D-BB0F1A57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FAB25-61D8-FA90-BA86-F9FB09D382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DMA Engine </a:t>
            </a:r>
          </a:p>
          <a:p>
            <a:r>
              <a:rPr lang="en-US" dirty="0"/>
              <a:t>Address Generator </a:t>
            </a:r>
          </a:p>
          <a:p>
            <a:r>
              <a:rPr lang="en-US" dirty="0"/>
              <a:t>Burst Generator</a:t>
            </a:r>
          </a:p>
          <a:p>
            <a:r>
              <a:rPr lang="en-US" dirty="0"/>
              <a:t>AXI Master</a:t>
            </a:r>
          </a:p>
          <a:p>
            <a:r>
              <a:rPr lang="en-US" dirty="0"/>
              <a:t>AXI Interconnect</a:t>
            </a:r>
          </a:p>
          <a:p>
            <a:r>
              <a:rPr lang="en-US" dirty="0"/>
              <a:t>DDR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2153A-D4B9-932F-2700-7A0D9E6CC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  <a:p>
            <a:pPr lvl="0"/>
            <a:r>
              <a:rPr lang="en-US" dirty="0"/>
              <a:t>Architecture Diagram </a:t>
            </a:r>
          </a:p>
          <a:p>
            <a:pPr lvl="0"/>
            <a:r>
              <a:rPr lang="en-US" dirty="0"/>
              <a:t>Data Flow </a:t>
            </a:r>
          </a:p>
          <a:p>
            <a:pPr lvl="0"/>
            <a:r>
              <a:rPr lang="en-US" dirty="0"/>
              <a:t>Signal Flow </a:t>
            </a:r>
          </a:p>
          <a:p>
            <a:pPr lvl="0"/>
            <a:r>
              <a:rPr lang="en-US" dirty="0"/>
              <a:t>Interface Specification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8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2B4D-F4B2-8636-3AE1-B923A544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RTL Module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07019-35B9-8898-4397-84C25501B1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dma_top</a:t>
            </a:r>
            <a:endParaRPr lang="en-US" dirty="0"/>
          </a:p>
          <a:p>
            <a:r>
              <a:rPr lang="en-US" dirty="0" err="1"/>
              <a:t>dma_controller</a:t>
            </a:r>
            <a:endParaRPr lang="en-US" dirty="0"/>
          </a:p>
          <a:p>
            <a:r>
              <a:rPr lang="en-US" dirty="0" err="1"/>
              <a:t>axi_master_read</a:t>
            </a:r>
            <a:endParaRPr lang="en-US" dirty="0"/>
          </a:p>
          <a:p>
            <a:r>
              <a:rPr lang="en-US" dirty="0" err="1"/>
              <a:t>axi_master_write</a:t>
            </a:r>
            <a:endParaRPr lang="en-US" dirty="0"/>
          </a:p>
          <a:p>
            <a:r>
              <a:rPr lang="en-US" dirty="0" err="1"/>
              <a:t>burst_generator</a:t>
            </a:r>
            <a:endParaRPr lang="en-US" dirty="0"/>
          </a:p>
          <a:p>
            <a:r>
              <a:rPr lang="en-US" dirty="0" err="1"/>
              <a:t>boundary_checker</a:t>
            </a:r>
            <a:endParaRPr lang="en-US" dirty="0"/>
          </a:p>
          <a:p>
            <a:r>
              <a:rPr lang="en-US" dirty="0" err="1"/>
              <a:t>fifo</a:t>
            </a:r>
            <a:endParaRPr lang="en-US" dirty="0"/>
          </a:p>
          <a:p>
            <a:r>
              <a:rPr lang="en-US" dirty="0" err="1"/>
              <a:t>outstanding_tracker</a:t>
            </a:r>
            <a:endParaRPr lang="en-US" dirty="0"/>
          </a:p>
          <a:p>
            <a:r>
              <a:rPr lang="en-US" dirty="0" err="1"/>
              <a:t>interrupt_controller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205A2-2A65-BBF0-0288-7D30D6B874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Deliverables</a:t>
            </a:r>
          </a:p>
          <a:p>
            <a:pPr lvl="0"/>
            <a:r>
              <a:rPr lang="en-US" dirty="0"/>
              <a:t>Synthesizable RTL </a:t>
            </a:r>
          </a:p>
          <a:p>
            <a:pPr lvl="0"/>
            <a:r>
              <a:rPr lang="en-US" dirty="0"/>
              <a:t>Coding Guidelines </a:t>
            </a:r>
          </a:p>
          <a:p>
            <a:pPr lvl="0"/>
            <a:r>
              <a:rPr lang="en-US" dirty="0"/>
              <a:t>Parameterized Design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60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220F-2078-8126-B23B-DFA2F243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AXI Read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B284-9410-1019-0026-1F16349050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Implement</a:t>
            </a:r>
          </a:p>
          <a:p>
            <a:pPr lvl="0"/>
            <a:r>
              <a:rPr lang="en-US" dirty="0"/>
              <a:t>AR Channel </a:t>
            </a:r>
          </a:p>
          <a:p>
            <a:pPr lvl="0"/>
            <a:r>
              <a:rPr lang="en-US" dirty="0"/>
              <a:t>R Channel </a:t>
            </a:r>
          </a:p>
          <a:p>
            <a:pPr lvl="0"/>
            <a:r>
              <a:rPr lang="en-US" dirty="0"/>
              <a:t>Read FSM </a:t>
            </a:r>
          </a:p>
          <a:p>
            <a:pPr lvl="0"/>
            <a:r>
              <a:rPr lang="en-US" dirty="0"/>
              <a:t>Read FIFO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22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18C3-77CE-EE1A-E4CD-53B2D558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5: AXI Write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B241-F6ED-5A03-2CE4-E362B4D4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</a:t>
            </a:r>
          </a:p>
          <a:p>
            <a:pPr lvl="0"/>
            <a:r>
              <a:rPr lang="en-US" dirty="0"/>
              <a:t>AW Channel </a:t>
            </a:r>
          </a:p>
          <a:p>
            <a:pPr lvl="0"/>
            <a:r>
              <a:rPr lang="en-US" dirty="0"/>
              <a:t>W Channel </a:t>
            </a:r>
          </a:p>
          <a:p>
            <a:pPr lvl="0"/>
            <a:r>
              <a:rPr lang="en-US" dirty="0"/>
              <a:t>B Channel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0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1916-36CA-F028-2029-7A00903E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6: Burst Transfer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C4052-950C-226A-FC1B-2C9AE5BE0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Burst Types</a:t>
            </a:r>
          </a:p>
          <a:p>
            <a:pPr lvl="0"/>
            <a:r>
              <a:rPr lang="en-US" dirty="0"/>
              <a:t>INCR </a:t>
            </a:r>
          </a:p>
          <a:p>
            <a:pPr lvl="0"/>
            <a:r>
              <a:rPr lang="en-US" dirty="0"/>
              <a:t>FIXED </a:t>
            </a:r>
          </a:p>
          <a:p>
            <a:pPr lvl="0"/>
            <a:r>
              <a:rPr lang="en-US" dirty="0"/>
              <a:t>WRAP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491E9-5081-8061-E44F-345E151499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Implement</a:t>
            </a:r>
          </a:p>
          <a:p>
            <a:pPr lvl="0"/>
            <a:r>
              <a:rPr lang="en-US" dirty="0"/>
              <a:t>Burst Length Generator </a:t>
            </a:r>
          </a:p>
          <a:p>
            <a:pPr lvl="0"/>
            <a:r>
              <a:rPr lang="en-US" dirty="0"/>
              <a:t>Address Increment Logic </a:t>
            </a:r>
          </a:p>
          <a:p>
            <a:pPr lvl="0"/>
            <a:r>
              <a:rPr lang="en-US" dirty="0"/>
              <a:t>WLAST Logic </a:t>
            </a:r>
          </a:p>
          <a:p>
            <a:pPr lvl="0"/>
            <a:r>
              <a:rPr lang="en-US" dirty="0"/>
              <a:t>Burst Counter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91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B416-6346-767E-31F0-10B49211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7: Boundary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BF89-D789-F822-427A-B3E5F9563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0360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4KB Boundary Detection</a:t>
            </a:r>
          </a:p>
          <a:p>
            <a:r>
              <a:rPr lang="en-US" dirty="0"/>
              <a:t>Address </a:t>
            </a:r>
          </a:p>
          <a:p>
            <a:pPr marL="0" indent="0">
              <a:buNone/>
            </a:pPr>
            <a:r>
              <a:rPr lang="en-US" dirty="0"/>
              <a:t>	↓ </a:t>
            </a:r>
          </a:p>
          <a:p>
            <a:r>
              <a:rPr lang="en-US" dirty="0"/>
              <a:t>Boundary Check </a:t>
            </a:r>
          </a:p>
          <a:p>
            <a:pPr marL="0" indent="0">
              <a:buNone/>
            </a:pPr>
            <a:r>
              <a:rPr lang="en-US" dirty="0"/>
              <a:t>	↓ </a:t>
            </a:r>
          </a:p>
          <a:p>
            <a:r>
              <a:rPr lang="en-US" dirty="0"/>
              <a:t>Split Burst </a:t>
            </a:r>
          </a:p>
          <a:p>
            <a:pPr marL="0" indent="0">
              <a:buNone/>
            </a:pPr>
            <a:r>
              <a:rPr lang="en-US" dirty="0"/>
              <a:t>	↓ </a:t>
            </a:r>
          </a:p>
          <a:p>
            <a:r>
              <a:rPr lang="en-US" dirty="0"/>
              <a:t>Issue Burst 1 </a:t>
            </a:r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r>
              <a:rPr lang="en-US" dirty="0"/>
              <a:t> Issue Burst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69851-06F1-1501-31D3-55D3123F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9960" y="1825625"/>
            <a:ext cx="490383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Deliverables</a:t>
            </a:r>
          </a:p>
          <a:p>
            <a:pPr lvl="0"/>
            <a:r>
              <a:rPr lang="en-US" dirty="0"/>
              <a:t>Boundary Checker RTL </a:t>
            </a:r>
          </a:p>
          <a:p>
            <a:pPr lvl="0"/>
            <a:r>
              <a:rPr lang="en-US" dirty="0"/>
              <a:t>Split Algorithm </a:t>
            </a:r>
          </a:p>
          <a:p>
            <a:pPr lvl="0"/>
            <a:r>
              <a:rPr lang="en-US" dirty="0"/>
              <a:t>Verification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49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DBD6-0630-5404-43C5-AF499681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8: Outstanding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6D666-9A03-156C-2316-7954E78614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</a:t>
            </a:r>
          </a:p>
          <a:p>
            <a:pPr lvl="0"/>
            <a:r>
              <a:rPr lang="en-US" dirty="0"/>
              <a:t>ID Allocation </a:t>
            </a:r>
          </a:p>
          <a:p>
            <a:pPr lvl="0"/>
            <a:r>
              <a:rPr lang="en-US" dirty="0"/>
              <a:t>Completion Queue </a:t>
            </a:r>
          </a:p>
          <a:p>
            <a:pPr lvl="0"/>
            <a:r>
              <a:rPr lang="en-US" dirty="0"/>
              <a:t>Inflight Counter </a:t>
            </a:r>
          </a:p>
          <a:p>
            <a:pPr lvl="0"/>
            <a:r>
              <a:rPr lang="en-US" dirty="0"/>
              <a:t>Transaction Table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18D32-2A71-C7D0-48BA-27655F95E0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Allocate ID</a:t>
            </a:r>
          </a:p>
          <a:p>
            <a:pPr marL="0" indent="0">
              <a:buNone/>
            </a:pPr>
            <a:r>
              <a:rPr lang="en-US" dirty="0"/>
              <a:t>   	↓</a:t>
            </a:r>
          </a:p>
          <a:p>
            <a:r>
              <a:rPr lang="en-US" dirty="0"/>
              <a:t>Issue Request</a:t>
            </a:r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r>
              <a:rPr lang="en-US" dirty="0"/>
              <a:t>Track Transaction</a:t>
            </a:r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r>
              <a:rPr lang="en-US" dirty="0"/>
              <a:t>Receive Response</a:t>
            </a:r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r>
              <a:rPr lang="en-US" dirty="0"/>
              <a:t>Release ID</a:t>
            </a:r>
          </a:p>
        </p:txBody>
      </p:sp>
    </p:spTree>
    <p:extLst>
      <p:ext uri="{BB962C8B-B14F-4D97-AF65-F5344CB8AC3E}">
        <p14:creationId xmlns:p14="http://schemas.microsoft.com/office/powerpoint/2010/main" val="11076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95F9-1808-F079-6F10-843042EA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9: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2E14-69B2-64C1-D472-FA42B2C2E2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Directed Tests</a:t>
            </a:r>
          </a:p>
          <a:p>
            <a:pPr lvl="1"/>
            <a:r>
              <a:rPr lang="en-US" dirty="0"/>
              <a:t>Read </a:t>
            </a:r>
          </a:p>
          <a:p>
            <a:pPr lvl="1"/>
            <a:r>
              <a:rPr lang="en-US" dirty="0"/>
              <a:t>Write </a:t>
            </a:r>
          </a:p>
          <a:p>
            <a:pPr lvl="1"/>
            <a:r>
              <a:rPr lang="en-US" dirty="0"/>
              <a:t>Burst </a:t>
            </a:r>
          </a:p>
          <a:p>
            <a:pPr lvl="1"/>
            <a:r>
              <a:rPr lang="en-US" dirty="0"/>
              <a:t>FIFO </a:t>
            </a:r>
          </a:p>
          <a:p>
            <a:pPr lvl="1"/>
            <a:r>
              <a:rPr lang="en-US" dirty="0"/>
              <a:t>Reset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F7E04-DA48-5AF5-2B32-FB29847C28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Random Tests</a:t>
            </a:r>
          </a:p>
          <a:p>
            <a:pPr lvl="1"/>
            <a:r>
              <a:rPr lang="en-US" dirty="0"/>
              <a:t>Random Address </a:t>
            </a:r>
          </a:p>
          <a:p>
            <a:pPr lvl="1"/>
            <a:r>
              <a:rPr lang="en-US" dirty="0"/>
              <a:t>Random Length </a:t>
            </a:r>
          </a:p>
          <a:p>
            <a:pPr lvl="1"/>
            <a:r>
              <a:rPr lang="en-US" dirty="0"/>
              <a:t>Random Delay </a:t>
            </a:r>
          </a:p>
          <a:p>
            <a:pPr lvl="1"/>
            <a:r>
              <a:rPr lang="en-US" dirty="0"/>
              <a:t>Random Response </a:t>
            </a:r>
          </a:p>
          <a:p>
            <a:r>
              <a:rPr lang="en-US" b="1" dirty="0"/>
              <a:t>Assertions</a:t>
            </a:r>
          </a:p>
          <a:p>
            <a:pPr lvl="1" algn="just"/>
            <a:r>
              <a:rPr lang="en-US" dirty="0"/>
              <a:t>VALID/READY </a:t>
            </a:r>
          </a:p>
          <a:p>
            <a:pPr lvl="1" algn="just"/>
            <a:r>
              <a:rPr lang="en-US" dirty="0"/>
              <a:t>WLAST </a:t>
            </a:r>
          </a:p>
          <a:p>
            <a:pPr lvl="1" algn="just"/>
            <a:r>
              <a:rPr lang="en-US" dirty="0"/>
              <a:t>ID Tracking </a:t>
            </a:r>
          </a:p>
          <a:p>
            <a:pPr lvl="1" algn="just"/>
            <a:r>
              <a:rPr lang="en-US" dirty="0"/>
              <a:t>Burst Length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08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ABE5-CCCD-7AE5-7F90-B6EB7C74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10: FPGA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CF8F-8788-FD82-CDA1-EBDBE700DF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  <a:p>
            <a:pPr lvl="1"/>
            <a:r>
              <a:rPr lang="en-US" dirty="0" err="1"/>
              <a:t>Vivado</a:t>
            </a:r>
            <a:r>
              <a:rPr lang="en-US" dirty="0"/>
              <a:t> Synthesis </a:t>
            </a:r>
          </a:p>
          <a:p>
            <a:pPr lvl="1"/>
            <a:r>
              <a:rPr lang="en-US" dirty="0"/>
              <a:t>Timing Analysis </a:t>
            </a:r>
          </a:p>
          <a:p>
            <a:pPr lvl="1"/>
            <a:r>
              <a:rPr lang="en-US" dirty="0"/>
              <a:t>Resource Utilization </a:t>
            </a:r>
          </a:p>
          <a:p>
            <a:pPr lvl="1"/>
            <a:r>
              <a:rPr lang="en-US" dirty="0"/>
              <a:t>DDR Interface </a:t>
            </a:r>
          </a:p>
          <a:p>
            <a:pPr lvl="1"/>
            <a:r>
              <a:rPr lang="en-US" dirty="0"/>
              <a:t>Hardware Validation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1432E-E10F-92C0-4402-8B3DEF182A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  <a:p>
            <a:pPr lvl="1"/>
            <a:r>
              <a:rPr lang="en-US" dirty="0"/>
              <a:t>Bitstream </a:t>
            </a:r>
          </a:p>
          <a:p>
            <a:pPr lvl="1"/>
            <a:r>
              <a:rPr lang="en-US" dirty="0"/>
              <a:t>Timing Report </a:t>
            </a:r>
          </a:p>
          <a:p>
            <a:pPr lvl="1"/>
            <a:r>
              <a:rPr lang="en-US" dirty="0"/>
              <a:t>Utilization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30A5-7B0A-9AC1-F316-F419BC44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DA8CD-88EA-BD1F-6CB1-0228F64F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881852" cy="522451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dirty="0"/>
              <a:t> Configuration</a:t>
            </a:r>
          </a:p>
          <a:p>
            <a:pPr marL="0" indent="0" algn="ctr">
              <a:buNone/>
            </a:pPr>
            <a:r>
              <a:rPr lang="en-US" dirty="0"/>
              <a:t>                           │</a:t>
            </a:r>
          </a:p>
          <a:p>
            <a:pPr marL="0" indent="0" algn="ctr">
              <a:buNone/>
            </a:pPr>
            <a:r>
              <a:rPr lang="en-US" dirty="0"/>
              <a:t>                           ▼</a:t>
            </a:r>
          </a:p>
          <a:p>
            <a:pPr marL="0" indent="0" algn="ctr">
              <a:buNone/>
            </a:pPr>
            <a:r>
              <a:rPr lang="en-US" dirty="0"/>
              <a:t>                  DMA Controller</a:t>
            </a:r>
          </a:p>
          <a:p>
            <a:pPr marL="0" indent="0" algn="ctr">
              <a:buNone/>
            </a:pPr>
            <a:r>
              <a:rPr lang="en-US" dirty="0"/>
              <a:t>                           │</a:t>
            </a:r>
          </a:p>
          <a:p>
            <a:pPr marL="0" indent="0" algn="ctr">
              <a:buNone/>
            </a:pPr>
            <a:r>
              <a:rPr lang="en-US" dirty="0"/>
              <a:t>        ┌──────────────────┴──────────────────┐</a:t>
            </a:r>
          </a:p>
          <a:p>
            <a:pPr marL="0" indent="0" algn="ctr">
              <a:buNone/>
            </a:pPr>
            <a:r>
              <a:rPr lang="en-US" dirty="0"/>
              <a:t>        │                                     │</a:t>
            </a:r>
          </a:p>
          <a:p>
            <a:pPr marL="0" indent="0" algn="ctr">
              <a:buNone/>
            </a:pPr>
            <a:r>
              <a:rPr lang="en-US" dirty="0"/>
              <a:t>        ▼                                     ▼</a:t>
            </a:r>
          </a:p>
          <a:p>
            <a:pPr marL="0" indent="0" algn="ctr">
              <a:buNone/>
            </a:pPr>
            <a:r>
              <a:rPr lang="en-US" dirty="0"/>
              <a:t> AXI Read Engine                     AXI Write Engine</a:t>
            </a:r>
          </a:p>
          <a:p>
            <a:pPr marL="0" indent="0" algn="ctr">
              <a:buNone/>
            </a:pPr>
            <a:r>
              <a:rPr lang="en-US" dirty="0"/>
              <a:t>        │                                     │</a:t>
            </a:r>
          </a:p>
          <a:p>
            <a:pPr marL="0" indent="0" algn="ctr">
              <a:buNone/>
            </a:pPr>
            <a:r>
              <a:rPr lang="en-US" dirty="0"/>
              <a:t>   Read FIFO                         Write FIFO</a:t>
            </a:r>
          </a:p>
          <a:p>
            <a:pPr marL="0" indent="0" algn="ctr">
              <a:buNone/>
            </a:pPr>
            <a:r>
              <a:rPr lang="en-US" dirty="0"/>
              <a:t>        │                                     │</a:t>
            </a:r>
          </a:p>
          <a:p>
            <a:pPr marL="0" indent="0" algn="ctr">
              <a:buNone/>
            </a:pPr>
            <a:r>
              <a:rPr lang="en-US" dirty="0"/>
              <a:t>        └──────────────┬──────────────────────┘</a:t>
            </a:r>
          </a:p>
          <a:p>
            <a:pPr marL="0" indent="0" algn="ctr">
              <a:buNone/>
            </a:pPr>
            <a:r>
              <a:rPr lang="en-US" dirty="0"/>
              <a:t>                       ▼</a:t>
            </a:r>
          </a:p>
          <a:p>
            <a:pPr marL="0" indent="0" algn="ctr">
              <a:buNone/>
            </a:pPr>
            <a:r>
              <a:rPr lang="en-US" dirty="0"/>
              <a:t>                 AXI4 Master Core</a:t>
            </a:r>
          </a:p>
          <a:p>
            <a:pPr marL="0" indent="0" algn="ctr">
              <a:buNone/>
            </a:pPr>
            <a:r>
              <a:rPr lang="en-US" dirty="0"/>
              <a:t>                       │</a:t>
            </a:r>
          </a:p>
          <a:p>
            <a:pPr marL="0" indent="0" algn="ctr">
              <a:buNone/>
            </a:pPr>
            <a:r>
              <a:rPr lang="en-US" dirty="0"/>
              <a:t>                 AXI Interconnect</a:t>
            </a:r>
          </a:p>
          <a:p>
            <a:pPr marL="0" indent="0" algn="ctr">
              <a:buNone/>
            </a:pPr>
            <a:r>
              <a:rPr lang="en-US" dirty="0"/>
              <a:t>                       │</a:t>
            </a:r>
          </a:p>
          <a:p>
            <a:pPr marL="0" indent="0" algn="ctr">
              <a:buNone/>
            </a:pPr>
            <a:r>
              <a:rPr lang="en-US" dirty="0"/>
              <a:t>                DDR Controller</a:t>
            </a:r>
          </a:p>
          <a:p>
            <a:pPr marL="0" indent="0" algn="ctr">
              <a:buNone/>
            </a:pPr>
            <a:r>
              <a:rPr lang="en-US" dirty="0"/>
              <a:t>                       │</a:t>
            </a:r>
          </a:p>
          <a:p>
            <a:pPr marL="0" indent="0" algn="ctr">
              <a:buNone/>
            </a:pPr>
            <a:r>
              <a:rPr lang="en-US" dirty="0"/>
              <a:t>                 External Memory</a:t>
            </a:r>
          </a:p>
        </p:txBody>
      </p:sp>
    </p:spTree>
    <p:extLst>
      <p:ext uri="{BB962C8B-B14F-4D97-AF65-F5344CB8AC3E}">
        <p14:creationId xmlns:p14="http://schemas.microsoft.com/office/powerpoint/2010/main" val="3680080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426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AXI4 Master with Burst Transfer Support</vt:lpstr>
      <vt:lpstr>Project Objectives</vt:lpstr>
      <vt:lpstr>Overall Project Roadmap</vt:lpstr>
      <vt:lpstr>Phase 1: Requirement Analysis</vt:lpstr>
      <vt:lpstr>Phase 2: System Architecture</vt:lpstr>
      <vt:lpstr>Phase 3: RTL Module Development</vt:lpstr>
      <vt:lpstr>Phase 4: AXI Read Channel</vt:lpstr>
      <vt:lpstr>Phase 5: AXI Write Channel</vt:lpstr>
      <vt:lpstr>Phase 6: Burst Transfer Support</vt:lpstr>
      <vt:lpstr>Phase 7: Boundary Handling</vt:lpstr>
      <vt:lpstr>Phase 8: Outstanding Transactions</vt:lpstr>
      <vt:lpstr>Phase 9: Verification</vt:lpstr>
      <vt:lpstr>Phase 10: FPGA Integration</vt:lpstr>
      <vt:lpstr>Final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Abhi</dc:creator>
  <cp:lastModifiedBy>Harsha Abhi</cp:lastModifiedBy>
  <cp:revision>1</cp:revision>
  <dcterms:created xsi:type="dcterms:W3CDTF">2026-08-07T17:16:09Z</dcterms:created>
  <dcterms:modified xsi:type="dcterms:W3CDTF">2026-08-07T17:26:56Z</dcterms:modified>
</cp:coreProperties>
</file>